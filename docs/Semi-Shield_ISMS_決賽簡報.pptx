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Semi-Shield ISMS</a:t>
            </a:r>
            <a:br/>
            <a:r>
              <a:t>地端 OT × ISO 27001 合規 Agent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EC8F0"/>
                </a:solidFill>
              </a:defRPr>
            </a:pPr>
            <a:r>
              <a:t>Wazuh + OpenCTI + Local LLM + Agentic RAG + Evidence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A0B8"/>
                </a:solidFill>
              </a:defRPr>
            </a:pPr>
            <a:r>
              <a:t>指導老師：＿＿＿＿＿＿ 老師</a:t>
            </a:r>
            <a:br/>
            <a:r>
              <a:t>企業業師：毛勁豪 老師（SenseL 平台）</a:t>
            </a:r>
            <a:br/>
            <a:r>
              <a:t>組員：王昱勻、陳昭宇、鍾世荃</a:t>
            </a:r>
            <a:br/>
            <a:r>
              <a:t>隊名：Semi-Shield</a:t>
            </a:r>
            <a:br/>
            <a:r>
              <a:t>專題主題：工控資安、ISO 27001 合規、AI Agent 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</a:defRPr>
            </a:pPr>
            <a:r>
              <a:t>設計原則：No Evidence, No Compliance Claim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8F0"/>
                </a:solidFill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EEF7"/>
                </a:solidFill>
              </a:defRPr>
            </a:pPr>
            <a:r>
              <a:t>01  關鍵問題：SOC 與合規的斷層 (Problem)</a:t>
            </a:r>
          </a:p>
          <a:p>
            <a:pPr>
              <a:spcAft>
                <a:spcPts val="1000"/>
              </a:spcAft>
              <a:defRPr sz="1800">
                <a:solidFill>
                  <a:srgbClr val="E8EEF7"/>
                </a:solidFill>
              </a:defRPr>
            </a:pPr>
            <a:r>
              <a:t>02  目標客群 (Customer Segments)</a:t>
            </a:r>
          </a:p>
          <a:p>
            <a:pPr>
              <a:spcAft>
                <a:spcPts val="1000"/>
              </a:spcAft>
              <a:defRPr sz="1800">
                <a:solidFill>
                  <a:srgbClr val="E8EEF7"/>
                </a:solidFill>
              </a:defRPr>
            </a:pPr>
            <a:r>
              <a:t>03  研究目的與創新性 (UVP)</a:t>
            </a:r>
          </a:p>
          <a:p>
            <a:pPr>
              <a:spcAft>
                <a:spcPts val="1000"/>
              </a:spcAft>
              <a:defRPr sz="1800">
                <a:solidFill>
                  <a:srgbClr val="E8EEF7"/>
                </a:solidFill>
              </a:defRPr>
            </a:pPr>
            <a:r>
              <a:t>04  系統架構 (Architecture)</a:t>
            </a:r>
          </a:p>
          <a:p>
            <a:pPr>
              <a:spcAft>
                <a:spcPts val="1000"/>
              </a:spcAft>
              <a:defRPr sz="1800">
                <a:solidFill>
                  <a:srgbClr val="E8EEF7"/>
                </a:solidFill>
              </a:defRPr>
            </a:pPr>
            <a:r>
              <a:t>05  技術說明 (Technical)</a:t>
            </a:r>
          </a:p>
          <a:p>
            <a:pPr>
              <a:spcAft>
                <a:spcPts val="1000"/>
              </a:spcAft>
              <a:defRPr sz="1800">
                <a:solidFill>
                  <a:srgbClr val="E8EEF7"/>
                </a:solidFill>
              </a:defRPr>
            </a:pPr>
            <a:r>
              <a:t>06  成果展示 (Demo)</a:t>
            </a:r>
          </a:p>
          <a:p>
            <a:pPr>
              <a:spcAft>
                <a:spcPts val="1000"/>
              </a:spcAft>
              <a:defRPr sz="1800">
                <a:solidFill>
                  <a:srgbClr val="E8EEF7"/>
                </a:solidFill>
              </a:defRPr>
            </a:pPr>
            <a:r>
              <a:t>07  成果驗證與貢獻 (Validation)</a:t>
            </a:r>
          </a:p>
          <a:p>
            <a:pPr>
              <a:spcAft>
                <a:spcPts val="1000"/>
              </a:spcAft>
              <a:defRPr sz="1800">
                <a:solidFill>
                  <a:srgbClr val="E8EEF7"/>
                </a:solidFill>
              </a:defRPr>
            </a:pPr>
            <a:r>
              <a:t>08  未來擴充性 (Roadmap)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8F0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關鍵問題：SOC 與合規的斷層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</a:defRPr>
            </a:pPr>
            <a:r>
              <a:t>(Problem)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438912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</a:defRPr>
            </a:pPr>
            <a:r>
              <a:t>告警疲勞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t>SOC 團隊的惡夢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7"/>
                </a:solidFill>
              </a:defRPr>
            </a:pPr>
            <a:r>
              <a:t>Wazuh alerts / Threat Intel / IR 每日大量事件</a:t>
            </a:r>
            <a:br/>
            <a:r>
              <a:t>80% 時間花在 triage 與誤報過濾</a:t>
            </a:r>
            <a:br/>
            <a:r>
              <a:t>真實威脅淹沒在雜訊中</a:t>
            </a:r>
            <a:br/>
            <a:r>
              <a:t>→ 事件 ≠ 可審查的合規證據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51760" cy="438912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</a:defRPr>
            </a:pPr>
            <a:r>
              <a:t>合規斷層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t>No Evidence, No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7"/>
                </a:solidFill>
              </a:defRPr>
            </a:pPr>
            <a:r>
              <a:t>ISO 27001 稽核需要：</a:t>
            </a:r>
            <a:br/>
            <a:r>
              <a:t>控制項對應 / 稽核證據 / 可追溯 evidence</a:t>
            </a:r>
            <a:br/>
            <a:r>
              <a:t>企業每日資安事件未能轉換為</a:t>
            </a:r>
            <a:br/>
            <a:r>
              <a:t>可審查之技術證據</a:t>
            </a:r>
            <a:br/>
            <a:r>
              <a:t>→ 報告高度仰賴人工整理與顧問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51760" cy="438912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</a:defRPr>
            </a:pPr>
            <a:r>
              <a:t>AI 報告幻覺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t>傳統 LLM 的局限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317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7"/>
                </a:solidFill>
              </a:defRPr>
            </a:pPr>
            <a:r>
              <a:t>單次生成、無 evidence_id</a:t>
            </a:r>
            <a:br/>
            <a:r>
              <a:t>易 hallucination、無 Human Review</a:t>
            </a:r>
            <a:br/>
            <a:r>
              <a:t>純文字、無 control mapping</a:t>
            </a:r>
            <a:br/>
            <a:r>
              <a:t>→ 無法作為 ISMS 稽核證據鏈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06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A0B8"/>
                </a:solidFill>
              </a:defRPr>
            </a:pPr>
            <a:r>
              <a:t>現況瓶頸：SOC 做威脅偵測，合規要證據鏈；兩者流程、資料結構、輸出格式完全不同。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8F0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目標客群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</a:defRPr>
            </a:pPr>
            <a:r>
              <a:t>(Customer Segments)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【主要產業】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• 半導體／電子製造（Cisco Catalyst 管理面、無塵室 OT 網路）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• 智慧製造工廠（需 ISO 27001 + OT 日誌合規證據）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• 關鍵基礎設施（電力、水務、石化 — 管理面 syslog 合規）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【客戶特徵】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• 已有 SOC／SIEM，但 ISO 27001 Annex A 證據整理靠人工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• 推動數位轉型，敏感資料不能上雲（需 Local LLM）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• 遭受合規壓力（27001、IEC 62443、NIS2）且重視 AI 降本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【組織規模】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• 中小企業：地端部署、開源栈（Wazuh + Local LLM）成本低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• 大型企業：可整合現有 GRC／SOC，Human Review 管線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8F0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研究目的與創新性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</a:defRPr>
            </a:pPr>
            <a:r>
              <a:t>(UVP)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【研究目的】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將 SOC 事件自動轉換為 ISO 27001:2022 可審查證據，縮短合規報告周期（4 週 → ≤2 天）。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【六大創新點】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1. No Evidence, No Compliance Claim — 每項 control mapping 必須具 evidence_id + hash chain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2. Agent Workflow — Collector → Auditor → Reviewer → Reporter 四階段協作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3. Local LLM 地端推論 — Qwen3-4B LoRA 微調，敏感 OT 資料不離廠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4. Agentic RAG — 681 筆 OT／ISO 知識庫 + 向量檢索 grounding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5. Human Review Guardrails — ML 護欄 + 分析師覆核佇列，降低 AI 幻覺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6. OT syslog → Annex A — Cisco syslog 自動對映 6 大控制項（Phase 2 擴 15+）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【vs 傳統 AI 報告】單次生成 → 多 Agent｜易幻覺 → Evidence-based｜無追溯 → evidence_id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8F0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</a:defRPr>
            </a:pPr>
            <a:r>
              <a:t>(Five-Layer Architecture)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8046720" cy="86868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</a:defRPr>
            </a:pPr>
            <a:r>
              <a:t>⑤ Web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441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7"/>
                </a:solidFill>
              </a:defRPr>
            </a:pPr>
            <a:r>
              <a:t>platform.html｜OT 監控戰情｜AI Agent 對話｜合規架構頁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8046720" cy="86868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677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</a:defRPr>
            </a:pPr>
            <a:r>
              <a:t>④ Guardrails + Human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0428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7"/>
                </a:solidFill>
              </a:defRPr>
            </a:pPr>
            <a:r>
              <a:t>RoBERTa 微調｜硬性規則｜review_queue 覆核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54680"/>
            <a:ext cx="8046720" cy="86868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278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</a:defRPr>
            </a:pPr>
            <a:r>
              <a:t>③ ISO 27001:2022 Mapping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6440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7"/>
                </a:solidFill>
              </a:defRPr>
            </a:pPr>
            <a:r>
              <a:t>Annex A 71 項定義｜6 項 OT 自動監控｜Phase 1 MVP 50 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8046720" cy="86868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87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</a:defRPr>
            </a:pPr>
            <a:r>
              <a:t>② RAG &amp; Agent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22452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7"/>
                </a:solidFill>
              </a:defRPr>
            </a:pPr>
            <a:r>
              <a:t>Agentic RAG｜Local LLM（Qwen3/Gemma LoRA）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74920"/>
            <a:ext cx="8046720" cy="86868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148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</a:defRPr>
            </a:pPr>
            <a:r>
              <a:t>① Agent Workflow +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1846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7"/>
                </a:solidFill>
              </a:defRPr>
            </a:pPr>
            <a:r>
              <a:t>Wazuh syslog｜OpenCTI CTI｜evidence_service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8F0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技術說明 (1/4)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</a:defRPr>
            </a:pPr>
            <a:r>
              <a:t>Agent Workflow 四角色管線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【Collector】scan_ot_directory → 解析 Cisco syslog → register evidence_id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【Auditor】RAG 檢索（top-k）+ Local LLM 控制項診斷（ask_llm）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【Reviewer】Guardrails ML + borderline 分數 → Human Review Queue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【Reporter】metrics + evidence 附錄 → PDF/TXT 合規報告匯出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觸發：POST /api/compliance/pipeline（地端一鍵執行）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Phase 2：LangGraph / CrewAI 编排｜Wazuh / OpenCTI 原生整合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通訊：同程序 Python 呼叫（Edge 樹莓派可 CPU 模式部署）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8F0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技術說明 (2/4)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</a:defRPr>
            </a:pPr>
            <a:r>
              <a:t>ISO 27001:2022 OT 控制項對映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E8EEF7"/>
                </a:solidFill>
              </a:defRPr>
            </a:pPr>
            <a:r>
              <a:t>【自動監控 6 項】（Cisco syslog regex → control_key → Annex A）</a:t>
            </a:r>
          </a:p>
          <a:p>
            <a:pPr>
              <a:spcAft>
                <a:spcPts val="1000"/>
              </a:spcAft>
              <a:defRPr sz="13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300">
                <a:solidFill>
                  <a:srgbClr val="E8EEF7"/>
                </a:solidFill>
              </a:defRPr>
            </a:pPr>
            <a:r>
              <a:t>control_key          Annex A        OT 訊號</a:t>
            </a:r>
          </a:p>
          <a:p>
            <a:pPr>
              <a:spcAft>
                <a:spcPts val="1000"/>
              </a:spcAft>
              <a:defRPr sz="1300">
                <a:solidFill>
                  <a:srgbClr val="E8EEF7"/>
                </a:solidFill>
              </a:defRPr>
            </a:pPr>
            <a:r>
              <a:t>access_control    →  A.5.15         LOGIN, RADIUS, TACACS, SSH</a:t>
            </a:r>
          </a:p>
          <a:p>
            <a:pPr>
              <a:spcAft>
                <a:spcPts val="1000"/>
              </a:spcAft>
              <a:defRPr sz="1300">
                <a:solidFill>
                  <a:srgbClr val="E8EEF7"/>
                </a:solidFill>
              </a:defRPr>
            </a:pPr>
            <a:r>
              <a:t>supplier_security →  A.5.19         CDP, LLDP, remote logging</a:t>
            </a:r>
          </a:p>
          <a:p>
            <a:pPr>
              <a:spcAft>
                <a:spcPts val="1000"/>
              </a:spcAft>
              <a:defRPr sz="1300">
                <a:solidFill>
                  <a:srgbClr val="E8EEF7"/>
                </a:solidFill>
              </a:defRPr>
            </a:pPr>
            <a:r>
              <a:t>malware_defense   →  A.8.7          IPS, MALWARE, USB alert</a:t>
            </a:r>
          </a:p>
          <a:p>
            <a:pPr>
              <a:spcAft>
                <a:spcPts val="1000"/>
              </a:spcAft>
              <a:defRPr sz="1300">
                <a:solidFill>
                  <a:srgbClr val="E8EEF7"/>
                </a:solidFill>
              </a:defRPr>
            </a:pPr>
            <a:r>
              <a:t>patch_management  →  A.8.8          IOS version, upgrade</a:t>
            </a:r>
          </a:p>
          <a:p>
            <a:pPr>
              <a:spcAft>
                <a:spcPts val="1000"/>
              </a:spcAft>
              <a:defRPr sz="1300">
                <a:solidFill>
                  <a:srgbClr val="E8EEF7"/>
                </a:solidFill>
              </a:defRPr>
            </a:pPr>
            <a:r>
              <a:t>recipe_audit      →  A.8.19         CONFIG, UPDOWN, PORT_SECURITY</a:t>
            </a:r>
          </a:p>
          <a:p>
            <a:pPr>
              <a:spcAft>
                <a:spcPts val="1000"/>
              </a:spcAft>
              <a:defRPr sz="1300">
                <a:solidFill>
                  <a:srgbClr val="E8EEF7"/>
                </a:solidFill>
              </a:defRPr>
            </a:pPr>
            <a:r>
              <a:t>sec_gem_log       →  A.8.24         SNMP, CRYPTO, PKI, TLS</a:t>
            </a:r>
          </a:p>
          <a:p>
            <a:pPr>
              <a:spcAft>
                <a:spcPts val="1000"/>
              </a:spcAft>
              <a:defRPr sz="13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300">
                <a:solidFill>
                  <a:srgbClr val="E8EEF7"/>
                </a:solidFill>
              </a:defRPr>
            </a:pPr>
            <a:r>
              <a:t>【Phase 1】A.5 + A.8 共 71 項矩陣定義，MVP in_scope ~50 項，目標覆蓋率 ≥80%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8F0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技術說明 (3/4)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</a:defRPr>
            </a:pPr>
            <a:r>
              <a:t>Guardrails Reviewer + Evidence 追溯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【Guardrails 三層】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• 輸入：hard rule（注入/越獄）→ platform allowlist（OT/ISO 意圖）→ RoBERTa 微調分類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• Borderline（unsafe 0.35–0.55）→ 自動進 Human Review Queue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• 輸出：IP / 密碼 / token 脫敏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【Evidence Schema】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• evidence_id：EV-{site}-{control}-{UTC}-{hash8}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• payload_hash + prev_hash（SHA-256 hash chain 防篡改）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• API：/api/evidence｜/api/review/queue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【RAG】BAAI embedding + 681 筆知識庫｜anti-hallucination 27001 固定事實卡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8F0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技術說明 (4/4)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</a:defRPr>
            </a:pPr>
            <a:r>
              <a:t>Local LLM 微調與部署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【Production 模型】Qwen/Qwen3-4B-Instruct-2507 + QLoRA（qwen3_4b_ot, ~7.6GB merge）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【Alternatives】Qwen2.5-7B｜Gemma-2-2b-it（HF gated）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【Edge/CPU】Qwen2.5-0.5B/1.5B + int8（run_edge.bat，樹莓派 class）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【訓練】349 筆 OT/ISO 27001 指令資料｜train.py 統一 LoRA + merge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【硬體】16GB GPU QLoRA｜CUDA 容錯 → CPU failover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【vs 商業 GRC】Vanta/Drata/OneTrust — 雲端 SaaS 為主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Semi-Shield 差異化：Local LLM + OT syslog mapping + evidence_id + Human Review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8F0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成果展示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</a:defRPr>
            </a:pPr>
            <a:r>
              <a:t>(Demonstration)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【整合平台】http://localhost:2000/platform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  • 監控戰情室 — OT.html（6 控制項計數、AI 診斷、PDF 匯出）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  • AI Agent 對話 — agent_chat.html（RAG + Guardrails + 模型熱切換）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  • 合規架構頁 — compliance.html（GRC 對標、KPI、Agent 管線）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【Demo 流程建議】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1. 展示 Cisco syslog 掃描 → 控制項 metrics 更新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2. 單項 AI 診斷 → evidence_id + Human Review 提示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3. 聊天問 ISO 27001 / 貼 syslog → RAG grounding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4. 一鍵合規管線 POST /api/compliance/pipeline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【影片／截圖】請插入現場 Demo 錄影連結或 QR Code</a:t>
            </a:r>
          </a:p>
          <a:p>
            <a:pPr>
              <a:spcAft>
                <a:spcPts val="1000"/>
              </a:spcAft>
              <a:defRPr sz="1400">
                <a:solidFill>
                  <a:srgbClr val="E8EEF7"/>
                </a:solidFill>
              </a:defRPr>
            </a:pPr>
            <a:r>
              <a:t>  影片連結：＿＿＿＿＿＿＿＿＿＿＿＿＿＿＿＿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8F0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成果驗證與貢獻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</a:defRPr>
            </a:pPr>
            <a:r>
              <a:t>量化 KPI 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</a:defRPr>
            </a:pPr>
            <a:r>
              <a:t>Annex A 矩陣覆蓋率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</a:defRPr>
            </a:pPr>
            <a:r>
              <a:t>≥ 80%（71/93 項已定義，Phase 2 擴自動監控）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</a:defRPr>
            </a:pPr>
            <a:r>
              <a:t>控制項對映準確率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01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</a:defRPr>
            </a:pPr>
            <a:r>
              <a:t>≥ 85%（Human review 後抽樣驗證）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768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</a:defRPr>
            </a:pPr>
            <a:r>
              <a:t>Human review 採納率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768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</a:defRPr>
            </a:pPr>
            <a:r>
              <a:t>≥ 75%（分析師核准比例）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523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</a:defRPr>
            </a:pPr>
            <a:r>
              <a:t>Evidence 可追溯率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523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</a:defRPr>
            </a:pPr>
            <a:r>
              <a:t>100%（每項宣稱必有 evidence_id）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278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</a:defRPr>
            </a:pPr>
            <a:r>
              <a:t>合規報告生成時間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27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</a:defRPr>
            </a:pPr>
            <a:r>
              <a:t>≤ 2 天（基線：顧問人工 4 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</a:defRPr>
            </a:pPr>
            <a:r>
              <a:t>合規評估成本降低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</a:defRPr>
            </a:pPr>
            <a:r>
              <a:t>≥ 70%（相較純人工整理證據）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788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</a:defRPr>
            </a:pPr>
            <a:r>
              <a:t>RAG 知識庫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178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</a:defRPr>
            </a:pPr>
            <a:r>
              <a:t>681 筆 OT/ISO  curated 文档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542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</a:defRPr>
            </a:pPr>
            <a:r>
              <a:t>OT 自動監控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6542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</a:defRPr>
            </a:pPr>
            <a:r>
              <a:t>6 項 syslog → Annex A（Phase 2: 15+）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8F0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成果驗證與貢獻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</a:defRPr>
            </a:pPr>
            <a:r>
              <a:t>產業貢獻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438912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</a:defRPr>
            </a:pPr>
            <a:r>
              <a:t>合規自動化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t>SOC → ISMS 證據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7"/>
                </a:solidFill>
              </a:defRPr>
            </a:pPr>
            <a:r>
              <a:t>將 Wazuh/SOC 事件轉為</a:t>
            </a:r>
            <a:br/>
            <a:r>
              <a:t>ISO 27001 可審查 evidence</a:t>
            </a:r>
            <a:br/>
            <a:r>
              <a:t>縮短顧問依賴</a:t>
            </a:r>
            <a:br/>
            <a:r>
              <a:t>報告 4 週 → 2 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51760" cy="438912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</a:defRPr>
            </a:pPr>
            <a:r>
              <a:t>地端 AI 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t>Local LLM +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7"/>
                </a:solidFill>
              </a:defRPr>
            </a:pPr>
            <a:r>
              <a:t>敏感 OT 資料不離廠</a:t>
            </a:r>
            <a:br/>
            <a:r>
              <a:t>Human Review 降低幻覺</a:t>
            </a:r>
            <a:br/>
            <a:r>
              <a:t>優於 SaaS GRC 方案</a:t>
            </a:r>
            <a:br/>
            <a:r>
              <a:t>（Vanta/Drata 等）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51760" cy="438912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</a:defRPr>
            </a:pPr>
            <a:r>
              <a:t>產業通用性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t>半導體 OT 場域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317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7"/>
                </a:solidFill>
              </a:defRPr>
            </a:pPr>
            <a:r>
              <a:t>Cisco Catalyst syslog</a:t>
            </a:r>
            <a:br/>
            <a:r>
              <a:t>IEC 62443 / NIST CSF 對照</a:t>
            </a:r>
            <a:br/>
            <a:r>
              <a:t>模組化 Edge 部署</a:t>
            </a:r>
            <a:br/>
            <a:r>
              <a:t>SenseL 平台 anchoring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8F0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未來擴充性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</a:defRPr>
            </a:pPr>
            <a:r>
              <a:t>(Roadmap)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【Wazuh + OpenCTI 原生整合】SOC alerts → control mapping → CTI feedback loop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【Annex A 擴覆】6 → 15+ 自動監控項｜完整 93 控制項 evidence 類型定義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【Agent Framework】LangGraph / CrewAI 多 Agent 编排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【Guardrails Phase 2】NeMo Guardrails + LlamaGuard 二道防線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【Edge 規模化】樹莓 Pi / 無 GPU 節點｜MQTT / OPC UA 協議擴展</a:t>
            </a:r>
          </a:p>
          <a:p>
            <a:pPr>
              <a:spcAft>
                <a:spcPts val="1000"/>
              </a:spcAft>
              <a:defRPr sz="1500">
                <a:solidFill>
                  <a:srgbClr val="E8EEF7"/>
                </a:solidFill>
              </a:defRPr>
            </a:pPr>
            <a:r>
              <a:t>【商業化】對標 Vanta/Drata 差異化：地端 + OT + evidence traceability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  <a:br/>
            <a:r>
              <a:t>FOR YOUR</a:t>
            </a:r>
            <a:br/>
            <a:r>
              <a:t>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EC8F0"/>
                </a:solidFill>
              </a:defRPr>
            </a:pPr>
            <a:r>
              <a:t>Semi-Shield ISMS｜No Evidence, No Compliance Claim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