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Semi-Shield ISMS</a:t>
            </a:r>
            <a:br/>
            <a:r>
              <a:t>地端 OT × ISO 27001</a:t>
            </a:r>
            <a:br/>
            <a:r>
              <a:t>合規 Agent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8F0"/>
                </a:solidFill>
                <a:latin typeface="Microsoft JhengHei"/>
              </a:defRPr>
            </a:pPr>
            <a:r>
              <a:t>Wazuh + OpenCTI + Local LLM</a:t>
            </a:r>
            <a:br/>
            <a:r>
              <a:t>+ Agentic RAG + Evidence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指導老師：＿＿＿＿＿＿ 老師</a:t>
            </a:r>
            <a:br/>
            <a:r>
              <a:t>企業業師：毛勁豪 老師（SenseL 平台）</a:t>
            </a:r>
            <a:br/>
            <a:r>
              <a:t>組員：王昱勻、陳昭宇、鍾世荃</a:t>
            </a:r>
            <a:br/>
            <a:r>
              <a:t>隊名：Semi-Shield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Microsoft JhengHei"/>
              </a:defRPr>
            </a:pPr>
            <a:r>
              <a:t>No Evidence, No Compliance Claim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EC8F0"/>
                </a:solidFill>
                <a:latin typeface="Microsoft JhengHei"/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01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05 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928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02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928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06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511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03 UVP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511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07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95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04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095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7"/>
                </a:solidFill>
                <a:latin typeface="Microsoft JhengHei"/>
              </a:defRPr>
            </a:pPr>
            <a:r>
              <a:t>08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關鍵問題：SOC 與合規的斷層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697480" cy="443484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344168"/>
            <a:ext cx="2478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Microsoft JhengHei"/>
              </a:defRPr>
            </a:pPr>
            <a:r>
              <a:t>告警疲勞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64792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SOC 團隊的惡夢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0312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7"/>
                </a:solidFill>
                <a:latin typeface="Microsoft JhengHei"/>
              </a:defRPr>
            </a:pPr>
            <a:r>
              <a:t>Wazuh / CTI / IR 每日大量事件</a:t>
            </a:r>
            <a:br/>
            <a:r>
              <a:t>80% 時間 triage 誤報</a:t>
            </a:r>
            <a:br/>
            <a:r>
              <a:t>真實威脅淹沒雜訊</a:t>
            </a:r>
            <a:br/>
            <a:r>
              <a:t>→ 事件 ≠ 稽核證據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234440"/>
            <a:ext cx="2697480" cy="443484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1344168"/>
            <a:ext cx="2478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Microsoft JhengHei"/>
              </a:defRPr>
            </a:pPr>
            <a:r>
              <a:t>合規斷層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764792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No Evidence, No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0312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7"/>
                </a:solidFill>
                <a:latin typeface="Microsoft JhengHei"/>
              </a:defRPr>
            </a:pPr>
            <a:r>
              <a:t>ISO 27001 需控制項對應</a:t>
            </a:r>
            <a:br/>
            <a:r>
              <a:t>+ 可追溯 evidence</a:t>
            </a:r>
            <a:br/>
            <a:r>
              <a:t>人工整理報告 4 週+</a:t>
            </a:r>
            <a:br/>
            <a:r>
              <a:t>→ 顧問成本高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1234440"/>
            <a:ext cx="2697480" cy="443484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344168"/>
            <a:ext cx="2478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Microsoft JhengHei"/>
              </a:defRPr>
            </a:pPr>
            <a:r>
              <a:t>AI 報告幻覺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764792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傳統 LLM 局限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10312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7"/>
                </a:solidFill>
                <a:latin typeface="Microsoft JhengHei"/>
              </a:defRPr>
            </a:pPr>
            <a:r>
              <a:t>單次生成、無 evidence_id</a:t>
            </a:r>
            <a:br/>
            <a:r>
              <a:t>易 hallucination</a:t>
            </a:r>
            <a:br/>
            <a:r>
              <a:t>無 Human Review</a:t>
            </a:r>
            <a:br/>
            <a:r>
              <a:t>→ 不能當 ISMS 證據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目標客群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Customer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【主要產業】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• 半導體／電子製造（Cisco Catalyst 管理面、無塵室 OT）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• 智慧製造（ISO 27001 + OT 日誌合規證據）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• 關鍵基礎設施（電力、水務、石化）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5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【客戶特徵】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• 已有 SOC，Annex A 證據整理靠人工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• 敏感資料不能上雲 → Local LLM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• 合規壓力：27001、IEC 62443、NIS2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研究目的與創新性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UVP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【目的】SOC 事件 → ISO 27001 可審查證據（4 週 → ≤2 天）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4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1. evidence_id + hash chain（No Evidence, No Claim）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2. Agent：Collector → Auditor → Reviewer → Reporter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3. Local LLM 地端（Qwen3-4B / Gemma LoRA）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4. Agentic RAG（681 筆 OT/ISO 知識庫）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5. Human Review Guardrails（RoBERTa + 覆核佇列）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E8EEF7"/>
                </a:solidFill>
                <a:latin typeface="Microsoft JhengHei"/>
              </a:defRPr>
            </a:pPr>
            <a:r>
              <a:t>6. syslog → Annex A 六控制項自動對映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Five-Layer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200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⑤ Web Console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platform / monitor / chat / compliance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④ Guardrails + Human Review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③ ISO 27001 Mapping Matrix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② RAG &amp; Local LLM Reasoning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① Agent Workflow + Data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Wazuh · OpenCTI · evidence_service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技術說明 (1/4)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Collector → scan OT / 註冊 evidence_id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Auditor → RAG + LLM 控制項診斷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Reviewer → Guardrails + review_queue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Reporter → PDF/TXT 合規報告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5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API：POST /api/compliance/pipeline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Phase 2：LangGraph / Wazuh / OpenCTI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技術說明 (2/4)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ISO 27001 OT 控制項對映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880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Cisco syslog → 6 控制項：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• A.5.15 存取控制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• A.5.19 供應鏈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• A.8.7 惡意程式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• A.8.8 弱點修補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• A.8.19 組態變更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• A.8.24 傳輸加密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Phase 1：71 項矩陣 / 目標 ≥80%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技術說明 (3/4)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Guardrails + Evidence 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926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Guardrails 三層：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規則 → allowlist → RoBERTa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borderline → Human Review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evidence_id：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EV-{site}-{ctrl}-{UTC}-{hash}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SHA-256 hash chain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LLM 診斷 → 三段落合規報告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（摘要 / 風險 / 修補）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技術說明 (4/4)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Local LLM 微調與熱切換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926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Production：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Qwen3-4B LoRA (qwen3_4b_ot)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Alternatives：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Gemma-2-2b-it LoRA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  Phi-4-mini / Qwen2.5-3B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1300">
                <a:solidFill>
                  <a:srgbClr val="8AA0B8"/>
                </a:solidFill>
                <a:latin typeface="Microsoft JhengHei"/>
              </a:defRPr>
            </a:pPr>
            <a:endParaRPr/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349 筆 OT/ISO 訓練資料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CUDA 4-bit QLoRA · CPU failover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E8EEF7"/>
                </a:solidFill>
                <a:latin typeface="Microsoft JhengHei"/>
              </a:defRPr>
            </a:pPr>
            <a:r>
              <a:t>Edge：run_edge.bat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成果驗證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量化 KPI 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8138160" cy="438912"/>
          </a:xfrm>
          <a:prstGeom prst="rect">
            <a:avLst/>
          </a:prstGeom>
          <a:solidFill>
            <a:srgbClr val="0A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Annex A 覆蓋率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98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≥ 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8138160" cy="43891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控制項對映準確率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105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≥ 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8138160" cy="43891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22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Human review 採納率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225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≥ 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98064"/>
            <a:ext cx="8138160" cy="43891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Evidence 可追溯率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34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8138160" cy="438912"/>
          </a:xfrm>
          <a:prstGeom prst="rect">
            <a:avLst/>
          </a:prstGeom>
          <a:solidFill>
            <a:srgbClr val="0A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報告生成時間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3467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≤ 2 天（基線 4 週）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22192"/>
            <a:ext cx="8138160" cy="438912"/>
          </a:xfrm>
          <a:prstGeom prst="rect">
            <a:avLst/>
          </a:prstGeom>
          <a:solidFill>
            <a:srgbClr val="0A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合規成本降低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58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≥ 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34256"/>
            <a:ext cx="8138160" cy="43891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RAG 知識庫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3708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681 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46320"/>
            <a:ext cx="8138160" cy="43891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882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Microsoft JhengHei"/>
              </a:defRPr>
            </a:pPr>
            <a:r>
              <a:t>OT 自動監控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8828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Microsoft JhengHei"/>
              </a:defRPr>
            </a:pPr>
            <a:r>
              <a:t>6 項 → Phase 2: 15+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成果驗證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產業貢獻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2697480" cy="443484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435607"/>
            <a:ext cx="2478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Microsoft JhengHei"/>
              </a:defRPr>
            </a:pPr>
            <a:r>
              <a:t>合規自動化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856231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SOC → ISMS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9456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7"/>
                </a:solidFill>
                <a:latin typeface="Microsoft JhengHei"/>
              </a:defRPr>
            </a:pPr>
            <a:r>
              <a:t>事件轉 evidence</a:t>
            </a:r>
            <a:br/>
            <a:r>
              <a:t>報告 4週→2天</a:t>
            </a:r>
            <a:br/>
            <a:r>
              <a:t>降低顧問依賴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325880"/>
            <a:ext cx="2697480" cy="443484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1435607"/>
            <a:ext cx="2478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Microsoft JhengHei"/>
              </a:defRPr>
            </a:pPr>
            <a:r>
              <a:t>地端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856231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Local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9456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7"/>
                </a:solidFill>
                <a:latin typeface="Microsoft JhengHei"/>
              </a:defRPr>
            </a:pPr>
            <a:r>
              <a:t>資料不離廠</a:t>
            </a:r>
            <a:br/>
            <a:r>
              <a:t>Human Review</a:t>
            </a:r>
            <a:br/>
            <a:r>
              <a:t>優於 SaaS GRC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1325880"/>
            <a:ext cx="2697480" cy="4434840"/>
          </a:xfrm>
          <a:prstGeom prst="rect">
            <a:avLst/>
          </a:prstGeom>
          <a:solidFill>
            <a:srgbClr val="0A1524"/>
          </a:solidFill>
          <a:ln>
            <a:solidFill>
              <a:srgbClr val="4E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435607"/>
            <a:ext cx="2478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Microsoft JhengHei"/>
              </a:defRPr>
            </a:pPr>
            <a:r>
              <a:t>半導體 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856231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JhengHei"/>
              </a:defRPr>
            </a:pPr>
            <a:r>
              <a:t>SenseL anchoring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19456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7"/>
                </a:solidFill>
                <a:latin typeface="Microsoft JhengHei"/>
              </a:defRPr>
            </a:pPr>
            <a:r>
              <a:t>Cisco syslog</a:t>
            </a:r>
            <a:br/>
            <a:r>
              <a:t>IEC 62443 對照</a:t>
            </a:r>
            <a:br/>
            <a:r>
              <a:t>Edge 可部署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EC8F0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未來擴充性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A0B8"/>
                </a:solidFill>
                <a:latin typeface="Microsoft JhengHei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8321040" cy="13716"/>
          </a:xfrm>
          <a:prstGeom prst="rect">
            <a:avLst/>
          </a:prstGeom>
          <a:solidFill>
            <a:srgbClr val="4E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Wazuh + OpenCTI 原生整合 · CTI feedback loop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Annex A 6 → 15+ 自動監控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LangGraph / CrewAI Agent 编排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NeMo Guardrails + LlamaGuard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E8EEF7"/>
                </a:solidFill>
                <a:latin typeface="Microsoft JhengHei"/>
              </a:defRPr>
            </a:pPr>
            <a:r>
              <a:t>Edge：樹莓 Pi · MQTT / OPC UA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THANK YOU</a:t>
            </a:r>
            <a:br/>
            <a:r>
              <a:t>FOR YOUR</a:t>
            </a:r>
            <a:br/>
            <a:r>
              <a:t>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EC8F0"/>
                </a:solidFill>
                <a:latin typeface="Microsoft JhengHei"/>
              </a:defRPr>
            </a:pPr>
            <a:r>
              <a:t>Semi-Shield ISMS ｜ No Evidence, No Compliance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6473952"/>
            <a:ext cx="4572000" cy="384048"/>
          </a:xfrm>
          <a:prstGeom prst="rect">
            <a:avLst/>
          </a:prstGeom>
          <a:solidFill>
            <a:srgbClr val="08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692</Words>
  <Application>Microsoft Office PowerPoint</Application>
  <PresentationFormat>如螢幕大小 (4:3)</PresentationFormat>
  <Paragraphs>146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鍾世荃</cp:lastModifiedBy>
  <cp:revision>4</cp:revision>
  <dcterms:created xsi:type="dcterms:W3CDTF">2013-01-27T09:14:16Z</dcterms:created>
  <dcterms:modified xsi:type="dcterms:W3CDTF">2026-08-10T12:38:10Z</dcterms:modified>
  <cp:category/>
</cp:coreProperties>
</file>